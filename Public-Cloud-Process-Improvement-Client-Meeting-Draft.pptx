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389e4b24be4db5" /><Relationship Type="http://schemas.openxmlformats.org/officeDocument/2006/relationships/extended-properties" Target="/docProps/app.xml" Id="Rd94b4c0954474e5f" /><Relationship Type="http://schemas.openxmlformats.org/officeDocument/2006/relationships/officeDocument" Target="/ppt/presentation.xml" Id="R7024f32cf6e54a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f31063c21b442a"/>
  </p:sldMasterIdLst>
  <p:notesMasterIdLst>
    <p:notesMasterId xmlns:r="http://schemas.openxmlformats.org/officeDocument/2006/relationships" r:id="Rbe26f09c14024e57"/>
  </p:notesMasterIdLst>
  <p:sldIdLst>
    <p:sldId xmlns:r="http://schemas.openxmlformats.org/officeDocument/2006/relationships" id="256" r:id="R265bd0ececbb4678"/>
    <p:sldId xmlns:r="http://schemas.openxmlformats.org/officeDocument/2006/relationships" id="257" r:id="R91239a0f41c14b25"/>
    <p:sldId xmlns:r="http://schemas.openxmlformats.org/officeDocument/2006/relationships" id="258" r:id="R9e9029f61bfb4709"/>
    <p:sldId xmlns:r="http://schemas.openxmlformats.org/officeDocument/2006/relationships" id="259" r:id="Rf4b81328909a4278"/>
    <p:sldId xmlns:r="http://schemas.openxmlformats.org/officeDocument/2006/relationships" id="260" r:id="Rdda29300f60c4693"/>
    <p:sldId xmlns:r="http://schemas.openxmlformats.org/officeDocument/2006/relationships" id="261" r:id="Rc407699568294628"/>
    <p:sldId xmlns:r="http://schemas.openxmlformats.org/officeDocument/2006/relationships" id="262" r:id="R03cba5042b354ca5"/>
    <p:sldId xmlns:r="http://schemas.openxmlformats.org/officeDocument/2006/relationships" id="263" r:id="R1eb1e7c44217415f"/>
    <p:sldId xmlns:r="http://schemas.openxmlformats.org/officeDocument/2006/relationships" id="264" r:id="Rd6011f2c14e449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bef90856b4b5a" /><Relationship Type="http://schemas.openxmlformats.org/officeDocument/2006/relationships/slideMaster" Target="/ppt/slideMasters/slideMaster1.xml" Id="Rd5f31063c21b442a" /><Relationship Type="http://schemas.openxmlformats.org/officeDocument/2006/relationships/notesMaster" Target="/ppt/notesMasters/notesMaster1.xml" Id="Rbe26f09c14024e57" /><Relationship Type="http://schemas.openxmlformats.org/officeDocument/2006/relationships/presProps" Target="/ppt/presProps.xml" Id="R1014e02ea0564e73" /><Relationship Type="http://schemas.openxmlformats.org/officeDocument/2006/relationships/tableStyles" Target="/ppt/tableStyles.xml" Id="R224b9baf99124a90" /><Relationship Type="http://schemas.openxmlformats.org/officeDocument/2006/relationships/slide" Target="/ppt/slides/slide1.xml" Id="R265bd0ececbb4678" /><Relationship Type="http://schemas.openxmlformats.org/officeDocument/2006/relationships/slide" Target="/ppt/slides/slide2.xml" Id="R91239a0f41c14b25" /><Relationship Type="http://schemas.openxmlformats.org/officeDocument/2006/relationships/slide" Target="/ppt/slides/slide3.xml" Id="R9e9029f61bfb4709" /><Relationship Type="http://schemas.openxmlformats.org/officeDocument/2006/relationships/slide" Target="/ppt/slides/slide4.xml" Id="Rf4b81328909a4278" /><Relationship Type="http://schemas.openxmlformats.org/officeDocument/2006/relationships/slide" Target="/ppt/slides/slide5.xml" Id="Rdda29300f60c4693" /><Relationship Type="http://schemas.openxmlformats.org/officeDocument/2006/relationships/slide" Target="/ppt/slides/slide6.xml" Id="Rc407699568294628" /><Relationship Type="http://schemas.openxmlformats.org/officeDocument/2006/relationships/slide" Target="/ppt/slides/slide7.xml" Id="R03cba5042b354ca5" /><Relationship Type="http://schemas.openxmlformats.org/officeDocument/2006/relationships/slide" Target="/ppt/slides/slide8.xml" Id="R1eb1e7c44217415f" /><Relationship Type="http://schemas.openxmlformats.org/officeDocument/2006/relationships/slide" Target="/ppt/slides/slide9.xml" Id="Rd6011f2c14e4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5b4fd8fad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94267198449f8" /><Relationship Type="http://schemas.openxmlformats.org/officeDocument/2006/relationships/notesMaster" Target="/ppt/notesMasters/notesMaster1.xml" Id="R5ea96fb9bb404d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354fa4c9ec4e82" /><Relationship Type="http://schemas.openxmlformats.org/officeDocument/2006/relationships/notesMaster" Target="/ppt/notesMasters/notesMaster1.xml" Id="Rd6d734b5486d46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3f9fffd06944b9" /><Relationship Type="http://schemas.openxmlformats.org/officeDocument/2006/relationships/notesMaster" Target="/ppt/notesMasters/notesMaster1.xml" Id="Ra7215b85714043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8d53f68d94cf4" /><Relationship Type="http://schemas.openxmlformats.org/officeDocument/2006/relationships/notesMaster" Target="/ppt/notesMasters/notesMaster1.xml" Id="R3fea6a4a76804c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ce37483cb240fd" /><Relationship Type="http://schemas.openxmlformats.org/officeDocument/2006/relationships/notesMaster" Target="/ppt/notesMasters/notesMaster1.xml" Id="R14a2a3c8212b4c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1df1f37c0349ab" /><Relationship Type="http://schemas.openxmlformats.org/officeDocument/2006/relationships/notesMaster" Target="/ppt/notesMasters/notesMaster1.xml" Id="R795ce77af7da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43f1a518e4a31" /><Relationship Type="http://schemas.openxmlformats.org/officeDocument/2006/relationships/notesMaster" Target="/ppt/notesMasters/notesMaster1.xml" Id="R03c9f07eb91e46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4ee84bd414ad0" /><Relationship Type="http://schemas.openxmlformats.org/officeDocument/2006/relationships/notesMaster" Target="/ppt/notesMasters/notesMaster1.xml" Id="R14ba619d5c9b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a9582e58d64283" /><Relationship Type="http://schemas.openxmlformats.org/officeDocument/2006/relationships/notesMaster" Target="/ppt/notesMasters/notesMaster1.xml" Id="Rd524bafb1511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current-state process and meeting request; meeting date and attendees were not Calendar-verified.</a:t>
            </a:r>
          </a:p>
          <a:p xmlns:a="http://schemas.openxmlformats.org/drawingml/2006/main">
            <a:r>
              <a:t>- No external claims are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CSSP Task Control Hub, Dashboard A6:M29 and Engineer Capacity A4:O15, snapshot dated 20 August 2026.</a:t>
            </a:r>
          </a:p>
          <a:p xmlns:a="http://schemas.openxmlformats.org/drawingml/2006/main">
            <a:r>
              <a:t>- Interpretation is based on the user-supplied process description and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current-state provisioning and decommissioning process.</a:t>
            </a:r>
          </a:p>
          <a:p xmlns:a="http://schemas.openxmlformats.org/drawingml/2006/main">
            <a:r>
              <a:t>- Feedback to Improve.xlsx, Sheet1 A1:E14.</a:t>
            </a:r>
          </a:p>
          <a:p xmlns:a="http://schemas.openxmlformats.org/drawingml/2006/main">
            <a:r>
              <a:t>- CSSP Task Control Hub, Task Master A4:Z10 and Engineer Updates A4:Q85.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CSSP Task Control Hub, current ticket-level design in Task Master A4:Z10 and Engineer Updates A4:Q85.</a:t>
            </a:r>
          </a:p>
          <a:p xmlns:a="http://schemas.openxmlformats.org/drawingml/2006/main">
            <a:r>
              <a:t>- Activity-event model is a proposed control design based on user feedback; examples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target operating model derived from the user-supplied current-state flow and feedback.</a:t>
            </a:r>
          </a:p>
          <a:p xmlns:a="http://schemas.openxmlformats.org/drawingml/2006/main">
            <a:r>
              <a:t>- Blue-stage ownership is proposed for client discussion and is not an existing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Requested changes respond directly to the limitations documented in Feedback to Improve.xlsx, Sheet1 E2:E14.</a:t>
            </a:r>
          </a:p>
          <a:p xmlns:a="http://schemas.openxmlformats.org/drawingml/2006/main">
            <a:r>
              <a:t>- Priorities are recommendations for discussion; no client commitment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delivery controls based on the user-supplied current-state flow and feedback.</a:t>
            </a:r>
          </a:p>
          <a:p xmlns:a="http://schemas.openxmlformats.org/drawingml/2006/main">
            <a:r>
              <a:t>- Current interim tracker structure: CSSP Task Control Hub, Task Master A4:Z10 and Engineer Updates A4:Q85.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implementation sequence derived from the current-state findings; dates are relative and require joint agreement.</a:t>
            </a:r>
          </a:p>
          <a:p xmlns:a="http://schemas.openxmlformats.org/drawingml/2006/main">
            <a:r>
              <a:t>- No benchmark performance commitments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meeting decisions based on the user-supplied current-state assessment and feedback.</a:t>
            </a:r>
          </a:p>
          <a:p xmlns:a="http://schemas.openxmlformats.org/drawingml/2006/main">
            <a:r>
              <a:t>- Owners and dates remain open for confirmation during the client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64ecfdfa8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31e122fc574254" /><Relationship Type="http://schemas.openxmlformats.org/officeDocument/2006/relationships/slideLayout" Target="/ppt/slideLayouts/slideLayout1.xml" Id="Re95188e1ec97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5188e1ec97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ca1b0207e4c83" /><Relationship Type="http://schemas.openxmlformats.org/officeDocument/2006/relationships/notesSlide" Target="/ppt/notesSlides/notesSlide1.xml" Id="Rf686753e4d4c4e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5ea61b8e141f0" /><Relationship Type="http://schemas.openxmlformats.org/officeDocument/2006/relationships/notesSlide" Target="/ppt/notesSlides/notesSlide2.xml" Id="R386b68910bad40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4bc7d4dba4bff" /><Relationship Type="http://schemas.openxmlformats.org/officeDocument/2006/relationships/notesSlide" Target="/ppt/notesSlides/notesSlide3.xml" Id="Ree560b9444c7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b35a701f54daa" /><Relationship Type="http://schemas.openxmlformats.org/officeDocument/2006/relationships/notesSlide" Target="/ppt/notesSlides/notesSlide4.xml" Id="R95b4580541cf4f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02642c583449a" /><Relationship Type="http://schemas.openxmlformats.org/officeDocument/2006/relationships/notesSlide" Target="/ppt/notesSlides/notesSlide5.xml" Id="Rbf9404cdd6eb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eb9781c48470d" /><Relationship Type="http://schemas.openxmlformats.org/officeDocument/2006/relationships/notesSlide" Target="/ppt/notesSlides/notesSlide6.xml" Id="R7083a6f1621c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e4d645a7c4c29" /><Relationship Type="http://schemas.openxmlformats.org/officeDocument/2006/relationships/notesSlide" Target="/ppt/notesSlides/notesSlide7.xml" Id="R4ff02846419f41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88f60002a4bf7" /><Relationship Type="http://schemas.openxmlformats.org/officeDocument/2006/relationships/notesSlide" Target="/ppt/notesSlides/notesSlide8.xml" Id="R8f32978033d1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8397f7b8e4de5" /><Relationship Type="http://schemas.openxmlformats.org/officeDocument/2006/relationships/notesSlide" Target="/ppt/notesSlides/notesSlide9.xml" Id="R3f99f75fad9342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E792767-0416-4A0B-B84F-4633D14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09C8726-82EF-4068-B62C-8D52469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CLIENT WORKING SESSION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16A3F51-8831-4AE1-9446-C3241853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Stabilising public cloud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provisioning and decommissioning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B968842-0AD9-4F54-BABA-1FD92AC5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Findings, joint improvement priorities and decisions required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259E966-E5E9-4B81-92C4-52277CA9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Discussion draft  |  23 August 2026</a:t>
            </a:r>
          </a:p>
        </p:txBody>
      </p:sp>
    </p:spTree>
    <p:extLst>
      <p:ext uri="{BB962C8B-B14F-4D97-AF65-F5344CB8AC3E}">
        <p14:creationId xmlns:p14="http://schemas.microsoft.com/office/powerpoint/2010/main" val="1555844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49CE20AB-81FE-479C-A8EE-0DCBDB22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PUBLIC CLOUD PROCESS IMPROVEMENT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3AC5BAD-A256-4105-84A2-CDDD33F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Flow constraints—not effort—are driving the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4DAF4-1105-4162-8F68-28D6F3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6F51F24-C7A0-45D7-A5E9-784C4D3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s2-thesis">
            <a:extLst xmlns:a="http://schemas.openxmlformats.org/drawingml/2006/main">
              <a:ext uri="{FF2B5EF4-FFF2-40B4-BE49-F238E27FC236}">
                <a16:creationId xmlns:a16="http://schemas.microsoft.com/office/drawing/2014/main" id="{14D6AA47-E1B0-4C16-8783-2FEE27CF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Assignment starts before readiness is proven, ownership is locked, and waiting time is hidden inside the delivery SLA.</a:t>
            </a:r>
          </a:p>
        </p:txBody>
      </p:sp>
      <p:sp>
        <p:nvSpPr>
          <p:cNvPr id="6" name="s2-metric-0">
            <a:extLst xmlns:a="http://schemas.openxmlformats.org/drawingml/2006/main">
              <a:ext uri="{FF2B5EF4-FFF2-40B4-BE49-F238E27FC236}">
                <a16:creationId xmlns:a16="http://schemas.microsoft.com/office/drawing/2014/main" id="{19998281-4BFF-4AE8-AE72-C8715334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419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2-value-0">
            <a:extLst xmlns:a="http://schemas.openxmlformats.org/drawingml/2006/main">
              <a:ext uri="{FF2B5EF4-FFF2-40B4-BE49-F238E27FC236}">
                <a16:creationId xmlns:a16="http://schemas.microsoft.com/office/drawing/2014/main" id="{2EA4350A-F15B-4245-B68A-AFB3849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8" name="s2-label-0">
            <a:extLst xmlns:a="http://schemas.openxmlformats.org/drawingml/2006/main">
              <a:ext uri="{FF2B5EF4-FFF2-40B4-BE49-F238E27FC236}">
                <a16:creationId xmlns:a16="http://schemas.microsoft.com/office/drawing/2014/main" id="{614D8240-BE2D-47D5-B1A2-B921AEFF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managed backlog</a:t>
            </a:r>
          </a:p>
        </p:txBody>
      </p:sp>
      <p:sp>
        <p:nvSpPr>
          <p:cNvPr id="9" name="s2-metric-1">
            <a:extLst xmlns:a="http://schemas.openxmlformats.org/drawingml/2006/main">
              <a:ext uri="{FF2B5EF4-FFF2-40B4-BE49-F238E27FC236}">
                <a16:creationId xmlns:a16="http://schemas.microsoft.com/office/drawing/2014/main" id="{705C5F76-503C-4E35-8346-F067260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2419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-value-1">
            <a:extLst xmlns:a="http://schemas.openxmlformats.org/drawingml/2006/main">
              <a:ext uri="{FF2B5EF4-FFF2-40B4-BE49-F238E27FC236}">
                <a16:creationId xmlns:a16="http://schemas.microsoft.com/office/drawing/2014/main" id="{A7BE7936-F563-46E7-A3C5-4B603FD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1" name="s2-label-1">
            <a:extLst xmlns:a="http://schemas.openxmlformats.org/drawingml/2006/main">
              <a:ext uri="{FF2B5EF4-FFF2-40B4-BE49-F238E27FC236}">
                <a16:creationId xmlns:a16="http://schemas.microsoft.com/office/drawing/2014/main" id="{7D646C13-EAD5-4555-B10B-31D3C70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already executing</a:t>
            </a:r>
          </a:p>
        </p:txBody>
      </p:sp>
      <p:sp>
        <p:nvSpPr>
          <p:cNvPr id="12" name="s2-metric-2">
            <a:extLst xmlns:a="http://schemas.openxmlformats.org/drawingml/2006/main">
              <a:ext uri="{FF2B5EF4-FFF2-40B4-BE49-F238E27FC236}">
                <a16:creationId xmlns:a16="http://schemas.microsoft.com/office/drawing/2014/main" id="{B2293E76-598E-49B7-ADD1-DE6A6A1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2419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value-2">
            <a:extLst xmlns:a="http://schemas.openxmlformats.org/drawingml/2006/main">
              <a:ext uri="{FF2B5EF4-FFF2-40B4-BE49-F238E27FC236}">
                <a16:creationId xmlns:a16="http://schemas.microsoft.com/office/drawing/2014/main" id="{47410F24-4F8A-4A5B-87B7-C1717948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4" name="s2-label-2">
            <a:extLst xmlns:a="http://schemas.openxmlformats.org/drawingml/2006/main">
              <a:ext uri="{FF2B5EF4-FFF2-40B4-BE49-F238E27FC236}">
                <a16:creationId xmlns:a16="http://schemas.microsoft.com/office/drawing/2014/main" id="{6F96D65C-8CA1-4DD8-BBFE-F0C7D32A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processing / ready</a:t>
            </a:r>
          </a:p>
        </p:txBody>
      </p:sp>
      <p:sp>
        <p:nvSpPr>
          <p:cNvPr id="15" name="s2-metric-3">
            <a:extLst xmlns:a="http://schemas.openxmlformats.org/drawingml/2006/main">
              <a:ext uri="{FF2B5EF4-FFF2-40B4-BE49-F238E27FC236}">
                <a16:creationId xmlns:a16="http://schemas.microsoft.com/office/drawing/2014/main" id="{CAE94888-3F6D-4024-90AC-30D1C27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419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2-value-3">
            <a:extLst xmlns:a="http://schemas.openxmlformats.org/drawingml/2006/main">
              <a:ext uri="{FF2B5EF4-FFF2-40B4-BE49-F238E27FC236}">
                <a16:creationId xmlns:a16="http://schemas.microsoft.com/office/drawing/2014/main" id="{148D306E-7949-4167-8C0D-85176C8D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38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2–42</a:t>
            </a:r>
          </a:p>
        </p:txBody>
      </p:sp>
      <p:sp>
        <p:nvSpPr>
          <p:cNvPr id="17" name="s2-label-3">
            <a:extLst xmlns:a="http://schemas.openxmlformats.org/drawingml/2006/main">
              <a:ext uri="{FF2B5EF4-FFF2-40B4-BE49-F238E27FC236}">
                <a16:creationId xmlns:a16="http://schemas.microsoft.com/office/drawing/2014/main" id="{91FAC0F7-2337-45CC-8A54-8BE309B3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projected load range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vs. 12-point capacity</a:t>
            </a:r>
          </a:p>
        </p:txBody>
      </p:sp>
      <p:sp>
        <p:nvSpPr>
          <p:cNvPr id="18" name="s2-meaning">
            <a:extLst xmlns:a="http://schemas.openxmlformats.org/drawingml/2006/main">
              <a:ext uri="{FF2B5EF4-FFF2-40B4-BE49-F238E27FC236}">
                <a16:creationId xmlns:a16="http://schemas.microsoft.com/office/drawing/2014/main" id="{A33D18F6-D405-49A3-BED8-15FA1461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this means</a:t>
            </a:r>
          </a:p>
        </p:txBody>
      </p:sp>
      <p:sp>
        <p:nvSpPr>
          <p:cNvPr id="19" name="s2-meaning-body">
            <a:extLst xmlns:a="http://schemas.openxmlformats.org/drawingml/2006/main">
              <a:ext uri="{FF2B5EF4-FFF2-40B4-BE49-F238E27FC236}">
                <a16:creationId xmlns:a16="http://schemas.microsoft.com/office/drawing/2014/main" id="{A015C99D-CB09-408F-8707-5495E252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current queue mixes active work with requestor, access and infra waiting. Capacity appears consumed even when engineers cannot progress, while actual work is distributed unevenly.</a:t>
            </a:r>
          </a:p>
        </p:txBody>
      </p:sp>
      <p:sp>
        <p:nvSpPr>
          <p:cNvPr id="20" name="s2-source">
            <a:extLst xmlns:a="http://schemas.openxmlformats.org/drawingml/2006/main">
              <a:ext uri="{FF2B5EF4-FFF2-40B4-BE49-F238E27FC236}">
                <a16:creationId xmlns:a16="http://schemas.microsoft.com/office/drawing/2014/main" id="{3CD6CF3D-285E-4438-BF6B-A5635F02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Task Control Hub snapshot dated 20 Aug 2026; workload points are provisional.</a:t>
            </a:r>
          </a:p>
        </p:txBody>
      </p:sp>
    </p:spTree>
    <p:extLst>
      <p:ext uri="{BB962C8B-B14F-4D97-AF65-F5344CB8AC3E}">
        <p14:creationId xmlns:p14="http://schemas.microsoft.com/office/powerpoint/2010/main" val="1003361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-3">
            <a:extLst xmlns:a="http://schemas.openxmlformats.org/drawingml/2006/main">
              <a:ext uri="{FF2B5EF4-FFF2-40B4-BE49-F238E27FC236}">
                <a16:creationId xmlns:a16="http://schemas.microsoft.com/office/drawing/2014/main" id="{7652A166-57E2-431F-9D92-CA2F0578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PUBLIC CLOUD PROCESS IMPROVEMENT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2866FC8-013B-44FB-A7C7-C875540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control gaps create avoidable waiting and rework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1A8DD-B2A9-4F7F-A5E3-D6A24C1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FC92F509-51F0-4328-A85F-CDBB4D71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s3-sub">
            <a:extLst xmlns:a="http://schemas.openxmlformats.org/drawingml/2006/main">
              <a:ext uri="{FF2B5EF4-FFF2-40B4-BE49-F238E27FC236}">
                <a16:creationId xmlns:a16="http://schemas.microsoft.com/office/drawing/2014/main" id="{04B1BC0D-63D8-4DB0-847F-AEC9E32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issues span platform design, operating controls and cross-team governance—not only engineering execution.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381500"/>
                <a:gridCol w="405765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 gap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effect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Operational risk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CSSP assignment and visibility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SLA starts early; owner locks; no requester-visible progress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Unmanaged ageing and fragile ownership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Readiness and scope baseline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Missing access or details; scope changes remain in email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Rework, disputes and forecast churn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External approval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Infra approvals wait without response commitment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SLA breach without clear accountable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Activity-level history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ticket status overwrites concurrent activity states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auditable wait, rework or handover history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Decommission safeguards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Manual deletion; incomplete inventory, retention and drift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Wrong deletion, data loss or Terraform recreation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3-note">
            <a:extLst xmlns:a="http://schemas.openxmlformats.org/drawingml/2006/main">
              <a:ext uri="{FF2B5EF4-FFF2-40B4-BE49-F238E27FC236}">
                <a16:creationId xmlns:a16="http://schemas.microsoft.com/office/drawing/2014/main" id="{0A48706C-01F1-47EA-B4C5-082BB8CC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Finding: the process lacks a shared control model for readiness, work, waiting, approval and evidence.</a:t>
            </a:r>
          </a:p>
        </p:txBody>
      </p:sp>
    </p:spTree>
    <p:extLst>
      <p:ext uri="{BB962C8B-B14F-4D97-AF65-F5344CB8AC3E}">
        <p14:creationId xmlns:p14="http://schemas.microsoft.com/office/powerpoint/2010/main" val="868792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-4">
            <a:extLst xmlns:a="http://schemas.openxmlformats.org/drawingml/2006/main">
              <a:ext uri="{FF2B5EF4-FFF2-40B4-BE49-F238E27FC236}">
                <a16:creationId xmlns:a16="http://schemas.microsoft.com/office/drawing/2014/main" id="{9CFB93CE-9B48-4557-AA05-C373D7C5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PUBLIC CLOUD PROCESS IMPROVEMENT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DBCC06F-DEDB-47F9-826C-3044DDBC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Ticket-level status cannot preserve activity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A0FDF-B98C-4196-B388-890F7A5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7A90F0F8-D785-477E-B966-B64259C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s4-sub">
            <a:extLst xmlns:a="http://schemas.openxmlformats.org/drawingml/2006/main">
              <a:ext uri="{FF2B5EF4-FFF2-40B4-BE49-F238E27FC236}">
                <a16:creationId xmlns:a16="http://schemas.microsoft.com/office/drawing/2014/main" id="{5D5FE9F4-224E-4700-B715-14318C7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One request contains multiple activities; every activity retains each status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F84AB-F5AE-4F39-924D-64AE8B9E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813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E809D-4672-42B9-A712-3B14BF74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813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request">
            <a:extLst xmlns:a="http://schemas.openxmlformats.org/drawingml/2006/main">
              <a:ext uri="{FF2B5EF4-FFF2-40B4-BE49-F238E27FC236}">
                <a16:creationId xmlns:a16="http://schemas.microsoft.com/office/drawing/2014/main" id="{EA7FC971-84DB-467F-AEC4-AF2D385A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2247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CSSP12345</a:t>
            </a:r>
          </a:p>
        </p:txBody>
      </p:sp>
      <p:sp>
        <p:nvSpPr>
          <p:cNvPr id="9" name="s4-activity-group">
            <a:extLst xmlns:a="http://schemas.openxmlformats.org/drawingml/2006/main">
              <a:ext uri="{FF2B5EF4-FFF2-40B4-BE49-F238E27FC236}">
                <a16:creationId xmlns:a16="http://schemas.microsoft.com/office/drawing/2014/main" id="{5100947F-D01E-4EC6-BEA8-BCCD556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43624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4-activity-title">
            <a:extLst xmlns:a="http://schemas.openxmlformats.org/drawingml/2006/main">
              <a:ext uri="{FF2B5EF4-FFF2-40B4-BE49-F238E27FC236}">
                <a16:creationId xmlns:a16="http://schemas.microsoft.com/office/drawing/2014/main" id="{4768820A-A541-43A2-859E-89FB0D0E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28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ACTIVITY REGISTER</a:t>
            </a:r>
          </a:p>
        </p:txBody>
      </p:sp>
      <p:sp>
        <p:nvSpPr>
          <p:cNvPr id="11" name="s4-act-0">
            <a:extLst xmlns:a="http://schemas.openxmlformats.org/drawingml/2006/main">
              <a:ext uri="{FF2B5EF4-FFF2-40B4-BE49-F238E27FC236}">
                <a16:creationId xmlns:a16="http://schemas.microsoft.com/office/drawing/2014/main" id="{2D3073DD-D90A-4BB6-80CC-5B59E64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384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4-act-id-0">
            <a:extLst xmlns:a="http://schemas.openxmlformats.org/drawingml/2006/main">
              <a:ext uri="{FF2B5EF4-FFF2-40B4-BE49-F238E27FC236}">
                <a16:creationId xmlns:a16="http://schemas.microsoft.com/office/drawing/2014/main" id="{610F68DA-2F98-4802-98E8-BC60C9C1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A01</a:t>
            </a:r>
          </a:p>
        </p:txBody>
      </p:sp>
      <p:sp>
        <p:nvSpPr>
          <p:cNvPr id="13" name="s4-act-name-0">
            <a:extLst xmlns:a="http://schemas.openxmlformats.org/drawingml/2006/main">
              <a:ext uri="{FF2B5EF4-FFF2-40B4-BE49-F238E27FC236}">
                <a16:creationId xmlns:a16="http://schemas.microsoft.com/office/drawing/2014/main" id="{440A63C4-E9BD-40D2-9E87-F4BD4BD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Repository access</a:t>
            </a:r>
          </a:p>
        </p:txBody>
      </p:sp>
      <p:sp>
        <p:nvSpPr>
          <p:cNvPr id="14" name="s4-act-status-0">
            <a:extLst xmlns:a="http://schemas.openxmlformats.org/drawingml/2006/main">
              <a:ext uri="{FF2B5EF4-FFF2-40B4-BE49-F238E27FC236}">
                <a16:creationId xmlns:a16="http://schemas.microsoft.com/office/drawing/2014/main" id="{BE12FEE8-A75B-47A2-A171-79B1AAC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Waiting access</a:t>
            </a:r>
          </a:p>
        </p:txBody>
      </p:sp>
      <p:sp>
        <p:nvSpPr>
          <p:cNvPr id="15" name="s4-act-1">
            <a:extLst xmlns:a="http://schemas.openxmlformats.org/drawingml/2006/main">
              <a:ext uri="{FF2B5EF4-FFF2-40B4-BE49-F238E27FC236}">
                <a16:creationId xmlns:a16="http://schemas.microsoft.com/office/drawing/2014/main" id="{DC8F8BAB-C46A-497F-A464-BD28A091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76625"/>
            <a:ext cx="384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4-act-id-1">
            <a:extLst xmlns:a="http://schemas.openxmlformats.org/drawingml/2006/main">
              <a:ext uri="{FF2B5EF4-FFF2-40B4-BE49-F238E27FC236}">
                <a16:creationId xmlns:a16="http://schemas.microsoft.com/office/drawing/2014/main" id="{3DD0F697-7FD5-42BA-B628-B7FDB76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71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A02</a:t>
            </a:r>
          </a:p>
        </p:txBody>
      </p:sp>
      <p:sp>
        <p:nvSpPr>
          <p:cNvPr id="17" name="s4-act-name-1">
            <a:extLst xmlns:a="http://schemas.openxmlformats.org/drawingml/2006/main">
              <a:ext uri="{FF2B5EF4-FFF2-40B4-BE49-F238E27FC236}">
                <a16:creationId xmlns:a16="http://schemas.microsoft.com/office/drawing/2014/main" id="{AE35EABE-9729-4F45-BCF6-48F773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IaC scripting</a:t>
            </a:r>
          </a:p>
        </p:txBody>
      </p:sp>
      <p:sp>
        <p:nvSpPr>
          <p:cNvPr id="18" name="s4-act-status-1">
            <a:extLst xmlns:a="http://schemas.openxmlformats.org/drawingml/2006/main">
              <a:ext uri="{FF2B5EF4-FFF2-40B4-BE49-F238E27FC236}">
                <a16:creationId xmlns:a16="http://schemas.microsoft.com/office/drawing/2014/main" id="{E33C268A-3548-46C2-B8D0-E3CE86D1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9" name="s4-act-2">
            <a:extLst xmlns:a="http://schemas.openxmlformats.org/drawingml/2006/main">
              <a:ext uri="{FF2B5EF4-FFF2-40B4-BE49-F238E27FC236}">
                <a16:creationId xmlns:a16="http://schemas.microsoft.com/office/drawing/2014/main" id="{235D68B0-6247-4FF9-B63E-5406D932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384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4-act-id-2">
            <a:extLst xmlns:a="http://schemas.openxmlformats.org/drawingml/2006/main">
              <a:ext uri="{FF2B5EF4-FFF2-40B4-BE49-F238E27FC236}">
                <a16:creationId xmlns:a16="http://schemas.microsoft.com/office/drawing/2014/main" id="{E5745A3A-6EB1-49BF-A666-F2BE5706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A03</a:t>
            </a:r>
          </a:p>
        </p:txBody>
      </p:sp>
      <p:sp>
        <p:nvSpPr>
          <p:cNvPr id="21" name="s4-act-name-2">
            <a:extLst xmlns:a="http://schemas.openxmlformats.org/drawingml/2006/main">
              <a:ext uri="{FF2B5EF4-FFF2-40B4-BE49-F238E27FC236}">
                <a16:creationId xmlns:a16="http://schemas.microsoft.com/office/drawing/2014/main" id="{1A51EA79-1E2D-4CF9-8F2D-BE2A1792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Infra approval</a:t>
            </a:r>
          </a:p>
        </p:txBody>
      </p:sp>
      <p:sp>
        <p:nvSpPr>
          <p:cNvPr id="22" name="s4-act-status-2">
            <a:extLst xmlns:a="http://schemas.openxmlformats.org/drawingml/2006/main">
              <a:ext uri="{FF2B5EF4-FFF2-40B4-BE49-F238E27FC236}">
                <a16:creationId xmlns:a16="http://schemas.microsoft.com/office/drawing/2014/main" id="{12B85600-64C2-4380-8990-410151D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910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23" name="s4-event-group">
            <a:extLst xmlns:a="http://schemas.openxmlformats.org/drawingml/2006/main">
              <a:ext uri="{FF2B5EF4-FFF2-40B4-BE49-F238E27FC236}">
                <a16:creationId xmlns:a16="http://schemas.microsoft.com/office/drawing/2014/main" id="{53B595FE-5480-4304-ADD3-CBA82867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9814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4-event-title">
            <a:extLst xmlns:a="http://schemas.openxmlformats.org/drawingml/2006/main">
              <a:ext uri="{FF2B5EF4-FFF2-40B4-BE49-F238E27FC236}">
                <a16:creationId xmlns:a16="http://schemas.microsoft.com/office/drawing/2014/main" id="{150B87E3-C3F1-4E70-B04F-3520841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288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APPEND-ONLY EVENT HISTORY</a:t>
            </a:r>
          </a:p>
        </p:txBody>
      </p:sp>
      <p:sp>
        <p:nvSpPr>
          <p:cNvPr id="25" name="s4-event-time-0">
            <a:extLst xmlns:a="http://schemas.openxmlformats.org/drawingml/2006/main">
              <a:ext uri="{FF2B5EF4-FFF2-40B4-BE49-F238E27FC236}">
                <a16:creationId xmlns:a16="http://schemas.microsoft.com/office/drawing/2014/main" id="{D6282721-87EE-4562-BE0C-E98D2845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24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09:00</a:t>
            </a:r>
          </a:p>
        </p:txBody>
      </p:sp>
      <p:sp>
        <p:nvSpPr>
          <p:cNvPr id="26" name="s4-event-name-0">
            <a:extLst xmlns:a="http://schemas.openxmlformats.org/drawingml/2006/main">
              <a:ext uri="{FF2B5EF4-FFF2-40B4-BE49-F238E27FC236}">
                <a16:creationId xmlns:a16="http://schemas.microsoft.com/office/drawing/2014/main" id="{A8A2A673-EDC3-4B04-9C04-9340563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241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27" name="s4-event-state-0">
            <a:extLst xmlns:a="http://schemas.openxmlformats.org/drawingml/2006/main">
              <a:ext uri="{FF2B5EF4-FFF2-40B4-BE49-F238E27FC236}">
                <a16:creationId xmlns:a16="http://schemas.microsoft.com/office/drawing/2014/main" id="{108B48D2-DBAD-40C4-8E1B-12B7ACE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41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Not started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CCCF2-5168-4C6B-A81B-D05B11A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4-event-time-1">
            <a:extLst xmlns:a="http://schemas.openxmlformats.org/drawingml/2006/main">
              <a:ext uri="{FF2B5EF4-FFF2-40B4-BE49-F238E27FC236}">
                <a16:creationId xmlns:a16="http://schemas.microsoft.com/office/drawing/2014/main" id="{40AA16A6-C5D5-4FCA-A4AA-67715C51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956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11:30</a:t>
            </a:r>
          </a:p>
        </p:txBody>
      </p:sp>
      <p:sp>
        <p:nvSpPr>
          <p:cNvPr id="30" name="s4-event-name-1">
            <a:extLst xmlns:a="http://schemas.openxmlformats.org/drawingml/2006/main">
              <a:ext uri="{FF2B5EF4-FFF2-40B4-BE49-F238E27FC236}">
                <a16:creationId xmlns:a16="http://schemas.microsoft.com/office/drawing/2014/main" id="{1E4F8EEB-994C-42F6-B55E-E376234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956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31" name="s4-event-state-1">
            <a:extLst xmlns:a="http://schemas.openxmlformats.org/drawingml/2006/main">
              <a:ext uri="{FF2B5EF4-FFF2-40B4-BE49-F238E27FC236}">
                <a16:creationId xmlns:a16="http://schemas.microsoft.com/office/drawing/2014/main" id="{866E8B3C-5000-44E1-95BB-BC0BE24D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956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Waiting – Infra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53FDA-AE99-4447-910E-B0715BC9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9572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4-event-time-2">
            <a:extLst xmlns:a="http://schemas.openxmlformats.org/drawingml/2006/main">
              <a:ext uri="{FF2B5EF4-FFF2-40B4-BE49-F238E27FC236}">
                <a16:creationId xmlns:a16="http://schemas.microsoft.com/office/drawing/2014/main" id="{AD33EE82-6922-4A37-A32A-30E8D8D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6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4" name="s4-event-name-2">
            <a:extLst xmlns:a="http://schemas.openxmlformats.org/drawingml/2006/main">
              <a:ext uri="{FF2B5EF4-FFF2-40B4-BE49-F238E27FC236}">
                <a16:creationId xmlns:a16="http://schemas.microsoft.com/office/drawing/2014/main" id="{1DF6E20C-6EC3-400A-871E-5F66858D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671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Approved / rejected</a:t>
            </a:r>
          </a:p>
        </p:txBody>
      </p:sp>
      <p:sp>
        <p:nvSpPr>
          <p:cNvPr id="35" name="s4-event-state-2">
            <a:extLst xmlns:a="http://schemas.openxmlformats.org/drawingml/2006/main">
              <a:ext uri="{FF2B5EF4-FFF2-40B4-BE49-F238E27FC236}">
                <a16:creationId xmlns:a16="http://schemas.microsoft.com/office/drawing/2014/main" id="{1D1FB05F-71AB-451B-B02D-1FC736CA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671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Retained event</a:t>
            </a:r>
          </a:p>
        </p:txBody>
      </p:sp>
      <p:sp>
        <p:nvSpPr>
          <p:cNvPr id="36" name="s4-bottom">
            <a:extLst xmlns:a="http://schemas.openxmlformats.org/drawingml/2006/main">
              <a:ext uri="{FF2B5EF4-FFF2-40B4-BE49-F238E27FC236}">
                <a16:creationId xmlns:a16="http://schemas.microsoft.com/office/drawing/2014/main" id="{3473472E-F917-418B-B4C7-ABCBE587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4-bottom-text">
            <a:extLst xmlns:a="http://schemas.openxmlformats.org/drawingml/2006/main">
              <a:ext uri="{FF2B5EF4-FFF2-40B4-BE49-F238E27FC236}">
                <a16:creationId xmlns:a16="http://schemas.microsoft.com/office/drawing/2014/main" id="{D1FEEC74-AC5B-482B-8CD5-CA2079D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 is derived from the latest event. Earlier statuses, blockers, reassignment and scope changes are never overwritten.</a:t>
            </a:r>
          </a:p>
        </p:txBody>
      </p:sp>
    </p:spTree>
    <p:extLst>
      <p:ext uri="{BB962C8B-B14F-4D97-AF65-F5344CB8AC3E}">
        <p14:creationId xmlns:p14="http://schemas.microsoft.com/office/powerpoint/2010/main" val="1065591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-5">
            <a:extLst xmlns:a="http://schemas.openxmlformats.org/drawingml/2006/main">
              <a:ext uri="{FF2B5EF4-FFF2-40B4-BE49-F238E27FC236}">
                <a16:creationId xmlns:a16="http://schemas.microsoft.com/office/drawing/2014/main" id="{116CFF59-22DE-4C6F-B0EB-F26018F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PUBLIC CLOUD PROCESS IMPROVEMENT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1820B41-056E-4E1F-9C71-CB9322C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target flow separates readiness, delivery and waiting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F808D-0E77-4F8D-A37A-8EE877CB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19D7614F-0AE8-4C0F-9166-08E4D6D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s5-sub">
            <a:extLst xmlns:a="http://schemas.openxmlformats.org/drawingml/2006/main">
              <a:ext uri="{FF2B5EF4-FFF2-40B4-BE49-F238E27FC236}">
                <a16:creationId xmlns:a16="http://schemas.microsoft.com/office/drawing/2014/main" id="{656B726D-F902-44A8-B9E5-4B565EDD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objective is not to pause service—it is to make ownership, blockers and decisions visible before irreversible assignment or deletion.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3C98E-0AFF-4BE2-8293-B3C75F04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813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6A4B6-DFBD-4820-8F61-5C6A1AB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F4FA5-830B-455A-8FE9-291CA1D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ECD50-E225-46DC-A0CE-DBD12EBE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C8D84-A7AE-4D41-82EC-2B159F84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245F3-6C04-46DC-9D87-0F807C75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stage-0">
            <a:extLst xmlns:a="http://schemas.openxmlformats.org/drawingml/2006/main">
              <a:ext uri="{FF2B5EF4-FFF2-40B4-BE49-F238E27FC236}">
                <a16:creationId xmlns:a16="http://schemas.microsoft.com/office/drawing/2014/main" id="{84BFA0FE-2D9C-4A9D-B596-BB4D49FA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5-num-0">
            <a:extLst xmlns:a="http://schemas.openxmlformats.org/drawingml/2006/main">
              <a:ext uri="{FF2B5EF4-FFF2-40B4-BE49-F238E27FC236}">
                <a16:creationId xmlns:a16="http://schemas.microsoft.com/office/drawing/2014/main" id="{48322C2F-844B-4A1D-A248-5EFDFB5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s5-name-0">
            <a:extLst xmlns:a="http://schemas.openxmlformats.org/drawingml/2006/main">
              <a:ext uri="{FF2B5EF4-FFF2-40B4-BE49-F238E27FC236}">
                <a16:creationId xmlns:a16="http://schemas.microsoft.com/office/drawing/2014/main" id="{6A07A8A0-2E32-4554-AD46-0811C38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15" name="s5-desc-0">
            <a:extLst xmlns:a="http://schemas.openxmlformats.org/drawingml/2006/main">
              <a:ext uri="{FF2B5EF4-FFF2-40B4-BE49-F238E27FC236}">
                <a16:creationId xmlns:a16="http://schemas.microsoft.com/office/drawing/2014/main" id="{39EE88D6-611C-4401-8D99-AE3F377D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Scope + owner</a:t>
            </a:r>
          </a:p>
        </p:txBody>
      </p:sp>
      <p:sp>
        <p:nvSpPr>
          <p:cNvPr id="16" name="s5-stage-1">
            <a:extLst xmlns:a="http://schemas.openxmlformats.org/drawingml/2006/main">
              <a:ext uri="{FF2B5EF4-FFF2-40B4-BE49-F238E27FC236}">
                <a16:creationId xmlns:a16="http://schemas.microsoft.com/office/drawing/2014/main" id="{1E014824-AB7F-46AD-A4E0-6435E33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s5-num-1">
            <a:extLst xmlns:a="http://schemas.openxmlformats.org/drawingml/2006/main">
              <a:ext uri="{FF2B5EF4-FFF2-40B4-BE49-F238E27FC236}">
                <a16:creationId xmlns:a16="http://schemas.microsoft.com/office/drawing/2014/main" id="{BB25B97A-5A99-470D-B0FE-FA99126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s5-name-1">
            <a:extLst xmlns:a="http://schemas.openxmlformats.org/drawingml/2006/main">
              <a:ext uri="{FF2B5EF4-FFF2-40B4-BE49-F238E27FC236}">
                <a16:creationId xmlns:a16="http://schemas.microsoft.com/office/drawing/2014/main" id="{331C054A-2D42-4D78-93CC-513CC34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 gate</a:t>
            </a:r>
          </a:p>
        </p:txBody>
      </p:sp>
      <p:sp>
        <p:nvSpPr>
          <p:cNvPr id="19" name="s5-desc-1">
            <a:extLst xmlns:a="http://schemas.openxmlformats.org/drawingml/2006/main">
              <a:ext uri="{FF2B5EF4-FFF2-40B4-BE49-F238E27FC236}">
                <a16:creationId xmlns:a16="http://schemas.microsoft.com/office/drawing/2014/main" id="{2AC98900-D5FA-43C4-866D-57C21D61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Access + data</a:t>
            </a:r>
          </a:p>
        </p:txBody>
      </p:sp>
      <p:sp>
        <p:nvSpPr>
          <p:cNvPr id="20" name="s5-stage-2">
            <a:extLst xmlns:a="http://schemas.openxmlformats.org/drawingml/2006/main">
              <a:ext uri="{FF2B5EF4-FFF2-40B4-BE49-F238E27FC236}">
                <a16:creationId xmlns:a16="http://schemas.microsoft.com/office/drawing/2014/main" id="{E75894DC-5113-4806-8216-4AC988B5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5-num-2">
            <a:extLst xmlns:a="http://schemas.openxmlformats.org/drawingml/2006/main">
              <a:ext uri="{FF2B5EF4-FFF2-40B4-BE49-F238E27FC236}">
                <a16:creationId xmlns:a16="http://schemas.microsoft.com/office/drawing/2014/main" id="{D633A1BF-26CF-478F-99FC-AE20AFE5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s5-name-2">
            <a:extLst xmlns:a="http://schemas.openxmlformats.org/drawingml/2006/main">
              <a:ext uri="{FF2B5EF4-FFF2-40B4-BE49-F238E27FC236}">
                <a16:creationId xmlns:a16="http://schemas.microsoft.com/office/drawing/2014/main" id="{49BCBBCC-EC92-452B-9C2F-C3FB5315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Prioritise</a:t>
            </a:r>
          </a:p>
        </p:txBody>
      </p:sp>
      <p:sp>
        <p:nvSpPr>
          <p:cNvPr id="23" name="s5-desc-2">
            <a:extLst xmlns:a="http://schemas.openxmlformats.org/drawingml/2006/main">
              <a:ext uri="{FF2B5EF4-FFF2-40B4-BE49-F238E27FC236}">
                <a16:creationId xmlns:a16="http://schemas.microsoft.com/office/drawing/2014/main" id="{8A6015C2-7EB2-4950-B338-CA4B0682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Impact + age</a:t>
            </a:r>
          </a:p>
        </p:txBody>
      </p:sp>
      <p:sp>
        <p:nvSpPr>
          <p:cNvPr id="24" name="s5-stage-3">
            <a:extLst xmlns:a="http://schemas.openxmlformats.org/drawingml/2006/main">
              <a:ext uri="{FF2B5EF4-FFF2-40B4-BE49-F238E27FC236}">
                <a16:creationId xmlns:a16="http://schemas.microsoft.com/office/drawing/2014/main" id="{2BF7DC85-1C5C-4B6E-9ACA-F02BC1D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5-num-3">
            <a:extLst xmlns:a="http://schemas.openxmlformats.org/drawingml/2006/main">
              <a:ext uri="{FF2B5EF4-FFF2-40B4-BE49-F238E27FC236}">
                <a16:creationId xmlns:a16="http://schemas.microsoft.com/office/drawing/2014/main" id="{D063CEDB-A720-4D04-9626-2AB3AEC8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s5-name-3">
            <a:extLst xmlns:a="http://schemas.openxmlformats.org/drawingml/2006/main">
              <a:ext uri="{FF2B5EF4-FFF2-40B4-BE49-F238E27FC236}">
                <a16:creationId xmlns:a16="http://schemas.microsoft.com/office/drawing/2014/main" id="{F6197C8D-56CF-41DE-B116-A804EF8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sp>
        <p:nvSpPr>
          <p:cNvPr id="27" name="s5-desc-3">
            <a:extLst xmlns:a="http://schemas.openxmlformats.org/drawingml/2006/main">
              <a:ext uri="{FF2B5EF4-FFF2-40B4-BE49-F238E27FC236}">
                <a16:creationId xmlns:a16="http://schemas.microsoft.com/office/drawing/2014/main" id="{EB803157-11A2-48AA-A813-00B2F9F7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Capacity + backup</a:t>
            </a:r>
          </a:p>
        </p:txBody>
      </p:sp>
      <p:sp>
        <p:nvSpPr>
          <p:cNvPr id="28" name="s5-stage-4">
            <a:extLst xmlns:a="http://schemas.openxmlformats.org/drawingml/2006/main">
              <a:ext uri="{FF2B5EF4-FFF2-40B4-BE49-F238E27FC236}">
                <a16:creationId xmlns:a16="http://schemas.microsoft.com/office/drawing/2014/main" id="{04680C01-7C50-4D20-8C47-D54F362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5-num-4">
            <a:extLst xmlns:a="http://schemas.openxmlformats.org/drawingml/2006/main">
              <a:ext uri="{FF2B5EF4-FFF2-40B4-BE49-F238E27FC236}">
                <a16:creationId xmlns:a16="http://schemas.microsoft.com/office/drawing/2014/main" id="{8262E038-FE90-496F-9CE0-D4B0775F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s5-name-4">
            <a:extLst xmlns:a="http://schemas.openxmlformats.org/drawingml/2006/main">
              <a:ext uri="{FF2B5EF4-FFF2-40B4-BE49-F238E27FC236}">
                <a16:creationId xmlns:a16="http://schemas.microsoft.com/office/drawing/2014/main" id="{73C81DC5-F406-4D17-850F-A6C6E084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31" name="s5-desc-4">
            <a:extLst xmlns:a="http://schemas.openxmlformats.org/drawingml/2006/main">
              <a:ext uri="{FF2B5EF4-FFF2-40B4-BE49-F238E27FC236}">
                <a16:creationId xmlns:a16="http://schemas.microsoft.com/office/drawing/2014/main" id="{C15961A7-9276-47B3-A7C5-06FE33FC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IaC / decom pack</a:t>
            </a:r>
          </a:p>
        </p:txBody>
      </p:sp>
      <p:sp>
        <p:nvSpPr>
          <p:cNvPr id="32" name="s5-stage-5">
            <a:extLst xmlns:a="http://schemas.openxmlformats.org/drawingml/2006/main">
              <a:ext uri="{FF2B5EF4-FFF2-40B4-BE49-F238E27FC236}">
                <a16:creationId xmlns:a16="http://schemas.microsoft.com/office/drawing/2014/main" id="{E8E4B324-AD93-4198-8DFA-A6141131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s5-num-5">
            <a:extLst xmlns:a="http://schemas.openxmlformats.org/drawingml/2006/main">
              <a:ext uri="{FF2B5EF4-FFF2-40B4-BE49-F238E27FC236}">
                <a16:creationId xmlns:a16="http://schemas.microsoft.com/office/drawing/2014/main" id="{EC7F3BD8-7EB0-4229-8AA6-37BF3681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" name="s5-name-5">
            <a:extLst xmlns:a="http://schemas.openxmlformats.org/drawingml/2006/main">
              <a:ext uri="{FF2B5EF4-FFF2-40B4-BE49-F238E27FC236}">
                <a16:creationId xmlns:a16="http://schemas.microsoft.com/office/drawing/2014/main" id="{8EE47F15-7FF4-4175-9248-DBFBC665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35" name="s5-desc-5">
            <a:extLst xmlns:a="http://schemas.openxmlformats.org/drawingml/2006/main">
              <a:ext uri="{FF2B5EF4-FFF2-40B4-BE49-F238E27FC236}">
                <a16:creationId xmlns:a16="http://schemas.microsoft.com/office/drawing/2014/main" id="{7D2D5223-DE05-4D25-92D1-898925F3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Decision + window</a:t>
            </a:r>
          </a:p>
        </p:txBody>
      </p:sp>
      <p:sp>
        <p:nvSpPr>
          <p:cNvPr id="36" name="s5-stage-6">
            <a:extLst xmlns:a="http://schemas.openxmlformats.org/drawingml/2006/main">
              <a:ext uri="{FF2B5EF4-FFF2-40B4-BE49-F238E27FC236}">
                <a16:creationId xmlns:a16="http://schemas.microsoft.com/office/drawing/2014/main" id="{68886579-3290-4EBC-80EF-F190C379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135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5-num-6">
            <a:extLst xmlns:a="http://schemas.openxmlformats.org/drawingml/2006/main">
              <a:ext uri="{FF2B5EF4-FFF2-40B4-BE49-F238E27FC236}">
                <a16:creationId xmlns:a16="http://schemas.microsoft.com/office/drawing/2014/main" id="{D27817A8-CD07-4165-A6C7-C7A5B423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8" name="s5-name-6">
            <a:extLst xmlns:a="http://schemas.openxmlformats.org/drawingml/2006/main">
              <a:ext uri="{FF2B5EF4-FFF2-40B4-BE49-F238E27FC236}">
                <a16:creationId xmlns:a16="http://schemas.microsoft.com/office/drawing/2014/main" id="{3780FAE6-D7DA-4DDE-8D3D-C08429F4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95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39" name="s5-desc-6">
            <a:extLst xmlns:a="http://schemas.openxmlformats.org/drawingml/2006/main">
              <a:ext uri="{FF2B5EF4-FFF2-40B4-BE49-F238E27FC236}">
                <a16:creationId xmlns:a16="http://schemas.microsoft.com/office/drawing/2014/main" id="{8139D9F5-B7FA-4574-8E3D-A4B9210A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05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Validate + close</a:t>
            </a:r>
          </a:p>
        </p:txBody>
      </p:sp>
      <p:sp>
        <p:nvSpPr>
          <p:cNvPr id="40" name="s5-wait">
            <a:extLst xmlns:a="http://schemas.openxmlformats.org/drawingml/2006/main">
              <a:ext uri="{FF2B5EF4-FFF2-40B4-BE49-F238E27FC236}">
                <a16:creationId xmlns:a16="http://schemas.microsoft.com/office/drawing/2014/main" id="{1F81F212-2B60-47B2-B428-8708AFD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5-wait-title">
            <a:extLst xmlns:a="http://schemas.openxmlformats.org/drawingml/2006/main">
              <a:ext uri="{FF2B5EF4-FFF2-40B4-BE49-F238E27FC236}">
                <a16:creationId xmlns:a16="http://schemas.microsoft.com/office/drawing/2014/main" id="{D605409A-BA4C-42D3-8096-2F247AD4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WAITING IS A CONTROLLED STATE</a:t>
            </a:r>
          </a:p>
        </p:txBody>
      </p:sp>
      <p:sp>
        <p:nvSpPr>
          <p:cNvPr id="42" name="s5-wait-body">
            <a:extLst xmlns:a="http://schemas.openxmlformats.org/drawingml/2006/main">
              <a:ext uri="{FF2B5EF4-FFF2-40B4-BE49-F238E27FC236}">
                <a16:creationId xmlns:a16="http://schemas.microsoft.com/office/drawing/2014/main" id="{5FBDD52D-8EB0-4B48-B5B7-469746E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blocker records an owner, pending-since time, next follow-up and escalation date. Gross SLA remains visible while active engineering and external waiting are measured separately.</a:t>
            </a:r>
          </a:p>
        </p:txBody>
      </p:sp>
      <p:sp>
        <p:nvSpPr>
          <p:cNvPr id="43" name="s5-key">
            <a:extLst xmlns:a="http://schemas.openxmlformats.org/drawingml/2006/main">
              <a:ext uri="{FF2B5EF4-FFF2-40B4-BE49-F238E27FC236}">
                <a16:creationId xmlns:a16="http://schemas.microsoft.com/office/drawing/2014/main" id="{A371CCFF-73CD-424C-BDAA-39F0B6B1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Blue stages require client-owned platform or governance enablement.</a:t>
            </a:r>
          </a:p>
        </p:txBody>
      </p:sp>
    </p:spTree>
    <p:extLst>
      <p:ext uri="{BB962C8B-B14F-4D97-AF65-F5344CB8AC3E}">
        <p14:creationId xmlns:p14="http://schemas.microsoft.com/office/powerpoint/2010/main" val="662210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-6">
            <a:extLst xmlns:a="http://schemas.openxmlformats.org/drawingml/2006/main">
              <a:ext uri="{FF2B5EF4-FFF2-40B4-BE49-F238E27FC236}">
                <a16:creationId xmlns:a16="http://schemas.microsoft.com/office/drawing/2014/main" id="{A1AA6FC5-5E43-40BC-BF87-51AC284E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DECISIONS REQUIRING CLIENT OWNERSHIP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8D10D5F-5F3E-4C68-B6C6-993DC40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client-owned changes unlock sustainable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54F61-F4D8-4F65-B5B5-A1BEAE96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9DE71FDA-306C-4AA7-93E8-C103DB87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s6-sub">
            <a:extLst xmlns:a="http://schemas.openxmlformats.org/drawingml/2006/main">
              <a:ext uri="{FF2B5EF4-FFF2-40B4-BE49-F238E27FC236}">
                <a16:creationId xmlns:a16="http://schemas.microsoft.com/office/drawing/2014/main" id="{7864FE13-EBE9-47B6-81C9-2232AFB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These are enabling changes the delivery team cannot implement alone. Priority indicates the recommended sequence for joint review.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133600"/>
          <a:ext xmlns:a="http://schemas.openxmlformats.org/drawingml/2006/main" cx="113919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334000"/>
                <a:gridCol w="3200400"/>
                <a:gridCol w="1238250"/>
              </a:tblGrid>
              <a:tr h="615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Requested client change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CSSP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triage/pending stages; pending reason and next-update date; team reassignment or queue ownership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Transparent progress and continuity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BMC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Pending reasons; blocker owner; next-review date; structured work-note fields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Auditable waiting and escalation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Infra approval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Response targets, approval clinics and named escalation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Predictable decision 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Information access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ADO access readiness; cloud inventory; CMDB extract or owner attestation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Reliable scope and dependency checks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DDF3FC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Approved retention, backup, restore and deletion-control standard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Safe, authorised decommissioning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DDF3FC"/>
                    </a:solidFill>
                  </a:tcPr>
                </a:tc>
              </a:tr>
            </a:tbl>
          </a:graphicData>
        </a:graphic>
      </p:graphicFrame>
      <p:sp>
        <p:nvSpPr>
          <p:cNvPr id="7" name="s6-ask">
            <a:extLst xmlns:a="http://schemas.openxmlformats.org/drawingml/2006/main">
              <a:ext uri="{FF2B5EF4-FFF2-40B4-BE49-F238E27FC236}">
                <a16:creationId xmlns:a16="http://schemas.microsoft.com/office/drawing/2014/main" id="{3506A028-72C2-498E-BDBA-441972F9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Meeting ask: nominate one accountable owner for each row and agree a feasibility date.</a:t>
            </a:r>
          </a:p>
        </p:txBody>
      </p:sp>
    </p:spTree>
    <p:extLst>
      <p:ext uri="{BB962C8B-B14F-4D97-AF65-F5344CB8AC3E}">
        <p14:creationId xmlns:p14="http://schemas.microsoft.com/office/powerpoint/2010/main" val="593870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7">
            <a:extLst xmlns:a="http://schemas.openxmlformats.org/drawingml/2006/main">
              <a:ext uri="{FF2B5EF4-FFF2-40B4-BE49-F238E27FC236}">
                <a16:creationId xmlns:a16="http://schemas.microsoft.com/office/drawing/2014/main" id="{A26570C9-2489-4C26-8EAD-EA1194B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CHANGES WITHIN DELIVERY-TEAM CONTROL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96AB097-5452-4EE8-8B7F-24E07D0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delivery team will tighten execution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610E6-527D-467F-BB70-3D6AA5E7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E0CC1CBE-084B-423F-A77C-81B6299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s7-sub">
            <a:extLst xmlns:a="http://schemas.openxmlformats.org/drawingml/2006/main">
              <a:ext uri="{FF2B5EF4-FFF2-40B4-BE49-F238E27FC236}">
                <a16:creationId xmlns:a16="http://schemas.microsoft.com/office/drawing/2014/main" id="{E4B6511A-382C-4F30-B205-F1BEDAD7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These controls can begin immediately while CSSP and BMC improvements are assessed.</a:t>
            </a:r>
          </a:p>
        </p:txBody>
      </p:sp>
      <p:sp>
        <p:nvSpPr>
          <p:cNvPr id="6" name="s7-left-panel">
            <a:extLst xmlns:a="http://schemas.openxmlformats.org/drawingml/2006/main">
              <a:ext uri="{FF2B5EF4-FFF2-40B4-BE49-F238E27FC236}">
                <a16:creationId xmlns:a16="http://schemas.microsoft.com/office/drawing/2014/main" id="{04E3BC36-4FA2-4987-9B13-793D9FC9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29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2D893E97-D9B6-475F-96E7-D1E5A5D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8" name="s7-left-body">
            <a:extLst xmlns:a="http://schemas.openxmlformats.org/drawingml/2006/main">
              <a:ext uri="{FF2B5EF4-FFF2-40B4-BE49-F238E27FC236}">
                <a16:creationId xmlns:a16="http://schemas.microsoft.com/office/drawing/2014/main" id="{FEC123CA-C361-45E8-9D09-29019076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Readiness checklist before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Versioned scope within the same CSSP ticket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WIP limit plus stage-weighted workload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Standard infra approval package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Two-person decommission verification</a:t>
            </a:r>
          </a:p>
        </p:txBody>
      </p:sp>
      <p:sp>
        <p:nvSpPr>
          <p:cNvPr id="9" name="s7-right-panel">
            <a:extLst xmlns:a="http://schemas.openxmlformats.org/drawingml/2006/main">
              <a:ext uri="{FF2B5EF4-FFF2-40B4-BE49-F238E27FC236}">
                <a16:creationId xmlns:a16="http://schemas.microsoft.com/office/drawing/2014/main" id="{8E5CEA5D-1172-401E-9BD8-3D240E8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71700"/>
            <a:ext cx="5810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7FD3FE42-B631-4A63-AE96-4DB4F77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TRACKER REDESIGN</a:t>
            </a:r>
          </a:p>
        </p:txBody>
      </p:sp>
      <p:sp>
        <p:nvSpPr>
          <p:cNvPr id="11" name="s7-right-body">
            <a:extLst xmlns:a="http://schemas.openxmlformats.org/drawingml/2006/main">
              <a:ext uri="{FF2B5EF4-FFF2-40B4-BE49-F238E27FC236}">
                <a16:creationId xmlns:a16="http://schemas.microsoft.com/office/drawing/2014/main" id="{97FFCFBA-BBDA-4343-820A-9A2D7E7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504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Request → Activity → Event history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Append-only status changes and handovers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Automatic follow-up queue for due blockers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Active time separated from external waiting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Standard requester status message</a:t>
            </a:r>
          </a:p>
        </p:txBody>
      </p:sp>
      <p:sp>
        <p:nvSpPr>
          <p:cNvPr id="12" name="s7-guardrail">
            <a:extLst xmlns:a="http://schemas.openxmlformats.org/drawingml/2006/main">
              <a:ext uri="{FF2B5EF4-FFF2-40B4-BE49-F238E27FC236}">
                <a16:creationId xmlns:a16="http://schemas.microsoft.com/office/drawing/2014/main" id="{0018308B-4CB4-4ECB-AFD7-95E0EBC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Guardrail: Excel is interim. Version history and protected formula sheets are required until the log moves to a workflow platform.</a:t>
            </a:r>
          </a:p>
        </p:txBody>
      </p:sp>
    </p:spTree>
    <p:extLst>
      <p:ext uri="{BB962C8B-B14F-4D97-AF65-F5344CB8AC3E}">
        <p14:creationId xmlns:p14="http://schemas.microsoft.com/office/powerpoint/2010/main" val="1663789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8">
            <a:extLst xmlns:a="http://schemas.openxmlformats.org/drawingml/2006/main">
              <a:ext uri="{FF2B5EF4-FFF2-40B4-BE49-F238E27FC236}">
                <a16:creationId xmlns:a16="http://schemas.microsoft.com/office/drawing/2014/main" id="{BED9E8B5-5F94-4561-A2B8-B96FFC8C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PUBLIC CLOUD PROCESS IMPROVEMENT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CA86C88-043E-475C-B92E-F736A2D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90-day plan stabilises the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FAB05-6842-44C8-B7BE-954DEEF0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9225DD40-27CF-4B47-AD1E-DAE20097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s8-sub">
            <a:extLst xmlns:a="http://schemas.openxmlformats.org/drawingml/2006/main">
              <a:ext uri="{FF2B5EF4-FFF2-40B4-BE49-F238E27FC236}">
                <a16:creationId xmlns:a16="http://schemas.microsoft.com/office/drawing/2014/main" id="{0DD9FAD6-4F18-49A1-8AB7-3DDC1CE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Delivery controls start now while client-owned platform and governance decisions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444A7-7373-4DA7-A778-80D21888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s8-dot-0">
            <a:extLst xmlns:a="http://schemas.openxmlformats.org/drawingml/2006/main">
              <a:ext uri="{FF2B5EF4-FFF2-40B4-BE49-F238E27FC236}">
                <a16:creationId xmlns:a16="http://schemas.microsoft.com/office/drawing/2014/main" id="{F6D66D51-C875-4DC0-B3CE-44D4EA4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8-label-0">
            <a:extLst xmlns:a="http://schemas.openxmlformats.org/drawingml/2006/main">
              <a:ext uri="{FF2B5EF4-FFF2-40B4-BE49-F238E27FC236}">
                <a16:creationId xmlns:a16="http://schemas.microsoft.com/office/drawing/2014/main" id="{10D3A530-9197-4DAC-A3AC-94B193B3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0–14 DAYS</a:t>
            </a:r>
          </a:p>
        </p:txBody>
      </p:sp>
      <p:sp>
        <p:nvSpPr>
          <p:cNvPr id="9" name="s8-name-0">
            <a:extLst xmlns:a="http://schemas.openxmlformats.org/drawingml/2006/main">
              <a:ext uri="{FF2B5EF4-FFF2-40B4-BE49-F238E27FC236}">
                <a16:creationId xmlns:a16="http://schemas.microsoft.com/office/drawing/2014/main" id="{AB376D75-6CF8-4C45-9487-F7450745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Stabilise</a:t>
            </a:r>
          </a:p>
        </p:txBody>
      </p:sp>
      <p:sp>
        <p:nvSpPr>
          <p:cNvPr id="10" name="s8-body-0">
            <a:extLst xmlns:a="http://schemas.openxmlformats.org/drawingml/2006/main">
              <a:ext uri="{FF2B5EF4-FFF2-40B4-BE49-F238E27FC236}">
                <a16:creationId xmlns:a16="http://schemas.microsoft.com/office/drawing/2014/main" id="{951FD3E2-78EF-4DA0-97D7-0B008F9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Reconfirm old scope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Classify blockers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WIP limits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status cadence</a:t>
            </a:r>
          </a:p>
        </p:txBody>
      </p:sp>
      <p:sp>
        <p:nvSpPr>
          <p:cNvPr id="11" name="s8-dot-1">
            <a:extLst xmlns:a="http://schemas.openxmlformats.org/drawingml/2006/main">
              <a:ext uri="{FF2B5EF4-FFF2-40B4-BE49-F238E27FC236}">
                <a16:creationId xmlns:a16="http://schemas.microsoft.com/office/drawing/2014/main" id="{3E7C1A04-2A53-4BE2-AB54-ACDF3EF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-label-1">
            <a:extLst xmlns:a="http://schemas.openxmlformats.org/drawingml/2006/main">
              <a:ext uri="{FF2B5EF4-FFF2-40B4-BE49-F238E27FC236}">
                <a16:creationId xmlns:a16="http://schemas.microsoft.com/office/drawing/2014/main" id="{B69E5E58-7F27-408B-8655-F1A5C2D3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15–45 DAYS</a:t>
            </a:r>
          </a:p>
        </p:txBody>
      </p:sp>
      <p:sp>
        <p:nvSpPr>
          <p:cNvPr id="13" name="s8-name-1">
            <a:extLst xmlns:a="http://schemas.openxmlformats.org/drawingml/2006/main">
              <a:ext uri="{FF2B5EF4-FFF2-40B4-BE49-F238E27FC236}">
                <a16:creationId xmlns:a16="http://schemas.microsoft.com/office/drawing/2014/main" id="{70B6DE0B-0EF0-426C-B224-F58DC9F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4" name="s8-body-1">
            <a:extLst xmlns:a="http://schemas.openxmlformats.org/drawingml/2006/main">
              <a:ext uri="{FF2B5EF4-FFF2-40B4-BE49-F238E27FC236}">
                <a16:creationId xmlns:a16="http://schemas.microsoft.com/office/drawing/2014/main" id="{E0CEDD0D-A812-4C51-92E6-EA98D47D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Launch activity/event log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 approval OLA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standard packs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 wait time</a:t>
            </a:r>
          </a:p>
        </p:txBody>
      </p:sp>
      <p:sp>
        <p:nvSpPr>
          <p:cNvPr id="15" name="s8-dot-2">
            <a:extLst xmlns:a="http://schemas.openxmlformats.org/drawingml/2006/main">
              <a:ext uri="{FF2B5EF4-FFF2-40B4-BE49-F238E27FC236}">
                <a16:creationId xmlns:a16="http://schemas.microsoft.com/office/drawing/2014/main" id="{3092A418-4310-4934-9110-074A6D69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8-label-2">
            <a:extLst xmlns:a="http://schemas.openxmlformats.org/drawingml/2006/main">
              <a:ext uri="{FF2B5EF4-FFF2-40B4-BE49-F238E27FC236}">
                <a16:creationId xmlns:a16="http://schemas.microsoft.com/office/drawing/2014/main" id="{6669CB5F-6291-41CD-B9C6-8549DEF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46–90 DAYS</a:t>
            </a:r>
          </a:p>
        </p:txBody>
      </p:sp>
      <p:sp>
        <p:nvSpPr>
          <p:cNvPr id="17" name="s8-name-2">
            <a:extLst xmlns:a="http://schemas.openxmlformats.org/drawingml/2006/main">
              <a:ext uri="{FF2B5EF4-FFF2-40B4-BE49-F238E27FC236}">
                <a16:creationId xmlns:a16="http://schemas.microsoft.com/office/drawing/2014/main" id="{1EC3B731-B7F5-41BF-86AF-9B714014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18" name="s8-body-2">
            <a:extLst xmlns:a="http://schemas.openxmlformats.org/drawingml/2006/main">
              <a:ext uri="{FF2B5EF4-FFF2-40B4-BE49-F238E27FC236}">
                <a16:creationId xmlns:a16="http://schemas.microsoft.com/office/drawing/2014/main" id="{7515AE1B-EDA5-49EB-9E78-426B2A97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Prioritise CSSP/BMC changes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retention standard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 reporting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effectiveness</a:t>
            </a:r>
          </a:p>
        </p:txBody>
      </p:sp>
      <p:sp>
        <p:nvSpPr>
          <p:cNvPr id="19" name="s8-outcome">
            <a:extLst xmlns:a="http://schemas.openxmlformats.org/drawingml/2006/main">
              <a:ext uri="{FF2B5EF4-FFF2-40B4-BE49-F238E27FC236}">
                <a16:creationId xmlns:a16="http://schemas.microsoft.com/office/drawing/2014/main" id="{321B1705-5EBF-4CBE-84B5-3CA6B4C9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8-outcome-text">
            <a:extLst xmlns:a="http://schemas.openxmlformats.org/drawingml/2006/main">
              <a:ext uri="{FF2B5EF4-FFF2-40B4-BE49-F238E27FC236}">
                <a16:creationId xmlns:a16="http://schemas.microsoft.com/office/drawing/2014/main" id="{2EE28500-06B8-4281-BF6E-3BC7F65D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measure: fewer unowned blockers, lower active WIP, faster approval decisions and a complete activity-level audit trail.</a:t>
            </a:r>
          </a:p>
        </p:txBody>
      </p:sp>
    </p:spTree>
    <p:extLst>
      <p:ext uri="{BB962C8B-B14F-4D97-AF65-F5344CB8AC3E}">
        <p14:creationId xmlns:p14="http://schemas.microsoft.com/office/powerpoint/2010/main" val="1252932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9">
            <a:extLst xmlns:a="http://schemas.openxmlformats.org/drawingml/2006/main">
              <a:ext uri="{FF2B5EF4-FFF2-40B4-BE49-F238E27FC236}">
                <a16:creationId xmlns:a16="http://schemas.microsoft.com/office/drawing/2014/main" id="{6DF78ED1-6397-4430-A330-F9122C8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PROPOSED MEETING OUTCOMES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F6D18A7-1841-48CA-9178-878D978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Today’s decisions define the next operating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32AE5-4643-485B-86B6-BFAC80D6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A9070A4A-EEBC-4E27-B34A-369C497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s9-sub">
            <a:extLst xmlns:a="http://schemas.openxmlformats.org/drawingml/2006/main">
              <a:ext uri="{FF2B5EF4-FFF2-40B4-BE49-F238E27FC236}">
                <a16:creationId xmlns:a16="http://schemas.microsoft.com/office/drawing/2014/main" id="{9A7D8639-6F43-402A-8355-157508EA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meeting should close with named owners and dates—not only agreement that the issues exist.</a:t>
            </a:r>
          </a:p>
        </p:txBody>
      </p:sp>
      <p:sp>
        <p:nvSpPr>
          <p:cNvPr id="6" name="s9-num-panel-0">
            <a:extLst xmlns:a="http://schemas.openxmlformats.org/drawingml/2006/main">
              <a:ext uri="{FF2B5EF4-FFF2-40B4-BE49-F238E27FC236}">
                <a16:creationId xmlns:a16="http://schemas.microsoft.com/office/drawing/2014/main" id="{D57F6A75-801F-46AF-85D9-0B73A814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s9-decision-0">
            <a:extLst xmlns:a="http://schemas.openxmlformats.org/drawingml/2006/main">
              <a:ext uri="{FF2B5EF4-FFF2-40B4-BE49-F238E27FC236}">
                <a16:creationId xmlns:a16="http://schemas.microsoft.com/office/drawing/2014/main" id="{7F12B2D9-ECFF-41C5-8FC8-1772310C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 a sponsor and feasibility review for CSSP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901B3-3302-4144-8D63-F52A83F3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9-num-panel-1">
            <a:extLst xmlns:a="http://schemas.openxmlformats.org/drawingml/2006/main">
              <a:ext uri="{FF2B5EF4-FFF2-40B4-BE49-F238E27FC236}">
                <a16:creationId xmlns:a16="http://schemas.microsoft.com/office/drawing/2014/main" id="{4AB7A2FB-1B5A-4959-B8FE-3B74EEE0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9-decision-1">
            <a:extLst xmlns:a="http://schemas.openxmlformats.org/drawingml/2006/main">
              <a:ext uri="{FF2B5EF4-FFF2-40B4-BE49-F238E27FC236}">
                <a16:creationId xmlns:a16="http://schemas.microsoft.com/office/drawing/2014/main" id="{91E96228-DCE2-41AE-A085-DA9B550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 the interim requester-status channel and cadence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4A558-EC29-489B-AA81-17C10858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9-num-panel-2">
            <a:extLst xmlns:a="http://schemas.openxmlformats.org/drawingml/2006/main">
              <a:ext uri="{FF2B5EF4-FFF2-40B4-BE49-F238E27FC236}">
                <a16:creationId xmlns:a16="http://schemas.microsoft.com/office/drawing/2014/main" id="{4A215126-5471-4B9A-AF55-98846A2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s9-decision-2">
            <a:extLst xmlns:a="http://schemas.openxmlformats.org/drawingml/2006/main">
              <a:ext uri="{FF2B5EF4-FFF2-40B4-BE49-F238E27FC236}">
                <a16:creationId xmlns:a16="http://schemas.microsoft.com/office/drawing/2014/main" id="{EDDE89CD-9D50-49B2-8930-696CB532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Nominate BMC, CMDB/inventory and infra-approval owners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B8E97-A586-411E-B602-64081A8D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9-num-panel-3">
            <a:extLst xmlns:a="http://schemas.openxmlformats.org/drawingml/2006/main">
              <a:ext uri="{FF2B5EF4-FFF2-40B4-BE49-F238E27FC236}">
                <a16:creationId xmlns:a16="http://schemas.microsoft.com/office/drawing/2014/main" id="{C5B571BF-0414-4798-A20F-0EF8C64F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s9-decision-3">
            <a:extLst xmlns:a="http://schemas.openxmlformats.org/drawingml/2006/main">
              <a:ext uri="{FF2B5EF4-FFF2-40B4-BE49-F238E27FC236}">
                <a16:creationId xmlns:a16="http://schemas.microsoft.com/office/drawing/2014/main" id="{DC9C7B16-2285-4203-8AFB-4A895BC6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a two-week OLA and activity-tracker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E378B-CE47-4A00-B052-CD732F2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9-num-panel-4">
            <a:extLst xmlns:a="http://schemas.openxmlformats.org/drawingml/2006/main">
              <a:ext uri="{FF2B5EF4-FFF2-40B4-BE49-F238E27FC236}">
                <a16:creationId xmlns:a16="http://schemas.microsoft.com/office/drawing/2014/main" id="{199D1748-3C3C-40FE-BE12-B0EAAC0D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s9-decision-4">
            <a:extLst xmlns:a="http://schemas.openxmlformats.org/drawingml/2006/main">
              <a:ext uri="{FF2B5EF4-FFF2-40B4-BE49-F238E27FC236}">
                <a16:creationId xmlns:a16="http://schemas.microsoft.com/office/drawing/2014/main" id="{D15C76EE-6B88-46D8-9DAD-FEC6A13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Commission the retention, backup and deletion-control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955A2-F61A-40C6-9F9C-89919370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9-close">
            <a:extLst xmlns:a="http://schemas.openxmlformats.org/drawingml/2006/main">
              <a:ext uri="{FF2B5EF4-FFF2-40B4-BE49-F238E27FC236}">
                <a16:creationId xmlns:a16="http://schemas.microsoft.com/office/drawing/2014/main" id="{21FB8A01-D3FA-40CE-8440-FE35F287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9-close-text">
            <a:extLst xmlns:a="http://schemas.openxmlformats.org/drawingml/2006/main">
              <a:ext uri="{FF2B5EF4-FFF2-40B4-BE49-F238E27FC236}">
                <a16:creationId xmlns:a16="http://schemas.microsoft.com/office/drawing/2014/main" id="{E1D53A0E-0DF7-44A6-BB75-374E727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next step: launch a two-week joint stabilisation sprint, then review the baseline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873787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2026-08-23T11:10:14.5570000Z</dcterms:created>
  <dcterms:modified xsi:type="dcterms:W3CDTF">2026-08-23T11:10:14.5580000Z</dcterms:modified>
</coreProperties>
</file>